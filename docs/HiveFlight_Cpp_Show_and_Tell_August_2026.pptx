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anadumitruc/HiveFlight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502920"/>
            <a:ext cx="45720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60D2A0"/>
                </a:solidFill>
                <a:latin typeface="Aptos"/>
              </a:rPr>
              <a:t>HIVEFLIGHT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676656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400" b="1">
                <a:solidFill>
                  <a:srgbClr val="EEF3FA"/>
                </a:solidFill>
                <a:latin typeface="Aptos"/>
              </a:rPr>
              <a:t>A C++17 drone swarm
that behaves like a hive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2788920"/>
            <a:ext cx="7040880" cy="54784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0" dirty="0">
                <a:solidFill>
                  <a:srgbClr val="A4B0C3"/>
                </a:solidFill>
                <a:latin typeface="Aptos"/>
              </a:rPr>
              <a:t>Reynolds </a:t>
            </a:r>
            <a:r>
              <a:rPr sz="1600" b="0" dirty="0" err="1">
                <a:solidFill>
                  <a:srgbClr val="A4B0C3"/>
                </a:solidFill>
                <a:latin typeface="Aptos"/>
              </a:rPr>
              <a:t>Boids</a:t>
            </a:r>
            <a:r>
              <a:rPr sz="1600" b="0" dirty="0">
                <a:solidFill>
                  <a:srgbClr val="A4B0C3"/>
                </a:solidFill>
                <a:latin typeface="Aptos"/>
              </a:rPr>
              <a:t> • 3D simulation • obstacle avoidance • target seeking • OpenGL • ROS 2 / Gazebo</a:t>
            </a:r>
            <a:endParaRPr lang="en-GB" sz="1600" b="0" dirty="0">
              <a:solidFill>
                <a:srgbClr val="A4B0C3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6656" y="3712463"/>
            <a:ext cx="3154680" cy="2560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0B0F17"/>
                </a:solidFill>
                <a:latin typeface="Aptos"/>
              </a:rPr>
              <a:t>C++ SHOW &amp; TELL • AUGUST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868680"/>
            <a:ext cx="3566160" cy="507492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8229600" y="1325880"/>
            <a:ext cx="0" cy="4160520"/>
          </a:xfrm>
          <a:prstGeom prst="line">
            <a:avLst/>
          </a:prstGeom>
          <a:ln w="127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23960" y="1325880"/>
            <a:ext cx="0" cy="4160520"/>
          </a:xfrm>
          <a:prstGeom prst="line">
            <a:avLst/>
          </a:prstGeom>
          <a:ln w="127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418320" y="1325880"/>
            <a:ext cx="0" cy="4160520"/>
          </a:xfrm>
          <a:prstGeom prst="line">
            <a:avLst/>
          </a:prstGeom>
          <a:ln w="127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012680" y="1325880"/>
            <a:ext cx="0" cy="4160520"/>
          </a:xfrm>
          <a:prstGeom prst="line">
            <a:avLst/>
          </a:prstGeom>
          <a:ln w="127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607040" y="1325880"/>
            <a:ext cx="0" cy="4160520"/>
          </a:xfrm>
          <a:prstGeom prst="line">
            <a:avLst/>
          </a:prstGeom>
          <a:ln w="127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201400" y="1325880"/>
            <a:ext cx="0" cy="4160520"/>
          </a:xfrm>
          <a:prstGeom prst="line">
            <a:avLst/>
          </a:prstGeom>
          <a:ln w="127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183879" y="1508760"/>
            <a:ext cx="3017521" cy="0"/>
          </a:xfrm>
          <a:prstGeom prst="line">
            <a:avLst/>
          </a:prstGeom>
          <a:ln w="127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183879" y="2103120"/>
            <a:ext cx="3017521" cy="0"/>
          </a:xfrm>
          <a:prstGeom prst="line">
            <a:avLst/>
          </a:prstGeom>
          <a:ln w="127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183879" y="2697480"/>
            <a:ext cx="3017521" cy="0"/>
          </a:xfrm>
          <a:prstGeom prst="line">
            <a:avLst/>
          </a:prstGeom>
          <a:ln w="127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183879" y="3291840"/>
            <a:ext cx="3017521" cy="0"/>
          </a:xfrm>
          <a:prstGeom prst="line">
            <a:avLst/>
          </a:prstGeom>
          <a:ln w="127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183879" y="3886200"/>
            <a:ext cx="3017521" cy="0"/>
          </a:xfrm>
          <a:prstGeom prst="line">
            <a:avLst/>
          </a:prstGeom>
          <a:ln w="127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183879" y="4480560"/>
            <a:ext cx="3017521" cy="0"/>
          </a:xfrm>
          <a:prstGeom prst="line">
            <a:avLst/>
          </a:prstGeom>
          <a:ln w="127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183879" y="5074920"/>
            <a:ext cx="3017521" cy="0"/>
          </a:xfrm>
          <a:prstGeom prst="line">
            <a:avLst/>
          </a:prstGeom>
          <a:ln w="127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8293608" y="1920240"/>
            <a:ext cx="256032" cy="109728"/>
          </a:xfrm>
          <a:prstGeom prst="line">
            <a:avLst/>
          </a:prstGeom>
          <a:ln w="12700">
            <a:solidFill>
              <a:srgbClr val="60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508492" y="1879092"/>
            <a:ext cx="82296" cy="82296"/>
          </a:xfrm>
          <a:prstGeom prst="ellipse">
            <a:avLst/>
          </a:prstGeom>
          <a:solidFill>
            <a:srgbClr val="5D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 flipV="1">
            <a:off x="8887968" y="2286000"/>
            <a:ext cx="256032" cy="109728"/>
          </a:xfrm>
          <a:prstGeom prst="line">
            <a:avLst/>
          </a:prstGeom>
          <a:ln w="12700">
            <a:solidFill>
              <a:srgbClr val="5D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9102852" y="2244852"/>
            <a:ext cx="82296" cy="82296"/>
          </a:xfrm>
          <a:prstGeom prst="ellipse">
            <a:avLst/>
          </a:prstGeom>
          <a:solidFill>
            <a:srgbClr val="6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Connector 24"/>
          <p:cNvCxnSpPr/>
          <p:nvPr/>
        </p:nvCxnSpPr>
        <p:spPr>
          <a:xfrm flipV="1">
            <a:off x="9482328" y="1828800"/>
            <a:ext cx="256032" cy="109728"/>
          </a:xfrm>
          <a:prstGeom prst="line">
            <a:avLst/>
          </a:prstGeom>
          <a:ln w="12700">
            <a:solidFill>
              <a:srgbClr val="60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697212" y="1787652"/>
            <a:ext cx="82296" cy="82296"/>
          </a:xfrm>
          <a:prstGeom prst="ellipse">
            <a:avLst/>
          </a:prstGeom>
          <a:solidFill>
            <a:srgbClr val="6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26"/>
          <p:cNvCxnSpPr/>
          <p:nvPr/>
        </p:nvCxnSpPr>
        <p:spPr>
          <a:xfrm flipV="1">
            <a:off x="10076688" y="2468880"/>
            <a:ext cx="256032" cy="109728"/>
          </a:xfrm>
          <a:prstGeom prst="line">
            <a:avLst/>
          </a:prstGeom>
          <a:ln w="12700">
            <a:solidFill>
              <a:srgbClr val="5D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0291572" y="2427732"/>
            <a:ext cx="82296" cy="82296"/>
          </a:xfrm>
          <a:prstGeom prst="ellipse">
            <a:avLst/>
          </a:prstGeom>
          <a:solidFill>
            <a:srgbClr val="5D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28"/>
          <p:cNvCxnSpPr/>
          <p:nvPr/>
        </p:nvCxnSpPr>
        <p:spPr>
          <a:xfrm flipV="1">
            <a:off x="10625328" y="2148840"/>
            <a:ext cx="256032" cy="109728"/>
          </a:xfrm>
          <a:prstGeom prst="line">
            <a:avLst/>
          </a:prstGeom>
          <a:ln w="12700">
            <a:solidFill>
              <a:srgbClr val="60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0840212" y="2107692"/>
            <a:ext cx="82296" cy="82296"/>
          </a:xfrm>
          <a:prstGeom prst="ellipse">
            <a:avLst/>
          </a:prstGeom>
          <a:solidFill>
            <a:srgbClr val="6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 flipV="1">
            <a:off x="8613648" y="2971800"/>
            <a:ext cx="256032" cy="109728"/>
          </a:xfrm>
          <a:prstGeom prst="line">
            <a:avLst/>
          </a:prstGeom>
          <a:ln w="12700">
            <a:solidFill>
              <a:srgbClr val="5D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828532" y="2930652"/>
            <a:ext cx="82296" cy="82296"/>
          </a:xfrm>
          <a:prstGeom prst="ellipse">
            <a:avLst/>
          </a:prstGeom>
          <a:solidFill>
            <a:srgbClr val="6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 flipV="1">
            <a:off x="9208008" y="2743200"/>
            <a:ext cx="256032" cy="109728"/>
          </a:xfrm>
          <a:prstGeom prst="line">
            <a:avLst/>
          </a:prstGeom>
          <a:ln w="12700">
            <a:solidFill>
              <a:srgbClr val="60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9422892" y="2702052"/>
            <a:ext cx="82296" cy="82296"/>
          </a:xfrm>
          <a:prstGeom prst="ellipse">
            <a:avLst/>
          </a:prstGeom>
          <a:solidFill>
            <a:srgbClr val="5D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" name="Connector 34"/>
          <p:cNvCxnSpPr/>
          <p:nvPr/>
        </p:nvCxnSpPr>
        <p:spPr>
          <a:xfrm flipV="1">
            <a:off x="9802368" y="3154680"/>
            <a:ext cx="256032" cy="109728"/>
          </a:xfrm>
          <a:prstGeom prst="line">
            <a:avLst/>
          </a:prstGeom>
          <a:ln w="12700">
            <a:solidFill>
              <a:srgbClr val="5D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0017252" y="3113532"/>
            <a:ext cx="82296" cy="82296"/>
          </a:xfrm>
          <a:prstGeom prst="ellipse">
            <a:avLst/>
          </a:prstGeom>
          <a:solidFill>
            <a:srgbClr val="6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 flipV="1">
            <a:off x="10396728" y="2880360"/>
            <a:ext cx="256032" cy="109728"/>
          </a:xfrm>
          <a:prstGeom prst="line">
            <a:avLst/>
          </a:prstGeom>
          <a:ln w="12700">
            <a:solidFill>
              <a:srgbClr val="60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0611612" y="2839212"/>
            <a:ext cx="82296" cy="82296"/>
          </a:xfrm>
          <a:prstGeom prst="ellipse">
            <a:avLst/>
          </a:prstGeom>
          <a:solidFill>
            <a:srgbClr val="6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38"/>
          <p:cNvCxnSpPr/>
          <p:nvPr/>
        </p:nvCxnSpPr>
        <p:spPr>
          <a:xfrm flipV="1">
            <a:off x="8385048" y="3840480"/>
            <a:ext cx="256032" cy="109728"/>
          </a:xfrm>
          <a:prstGeom prst="line">
            <a:avLst/>
          </a:prstGeom>
          <a:ln w="12700">
            <a:solidFill>
              <a:srgbClr val="5D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8599932" y="3799332"/>
            <a:ext cx="82296" cy="82296"/>
          </a:xfrm>
          <a:prstGeom prst="ellipse">
            <a:avLst/>
          </a:prstGeom>
          <a:solidFill>
            <a:srgbClr val="5D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40"/>
          <p:cNvCxnSpPr/>
          <p:nvPr/>
        </p:nvCxnSpPr>
        <p:spPr>
          <a:xfrm flipV="1">
            <a:off x="9025128" y="3657600"/>
            <a:ext cx="256032" cy="109728"/>
          </a:xfrm>
          <a:prstGeom prst="line">
            <a:avLst/>
          </a:prstGeom>
          <a:ln w="12700">
            <a:solidFill>
              <a:srgbClr val="60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9240012" y="3616452"/>
            <a:ext cx="82296" cy="82296"/>
          </a:xfrm>
          <a:prstGeom prst="ellipse">
            <a:avLst/>
          </a:prstGeom>
          <a:solidFill>
            <a:srgbClr val="6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42"/>
          <p:cNvCxnSpPr/>
          <p:nvPr/>
        </p:nvCxnSpPr>
        <p:spPr>
          <a:xfrm flipV="1">
            <a:off x="9619488" y="3977639"/>
            <a:ext cx="256032" cy="109729"/>
          </a:xfrm>
          <a:prstGeom prst="line">
            <a:avLst/>
          </a:prstGeom>
          <a:ln w="12700">
            <a:solidFill>
              <a:srgbClr val="5D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9834372" y="3936491"/>
            <a:ext cx="82296" cy="82296"/>
          </a:xfrm>
          <a:prstGeom prst="ellipse">
            <a:avLst/>
          </a:prstGeom>
          <a:solidFill>
            <a:srgbClr val="6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 flipV="1">
            <a:off x="10213848" y="3703320"/>
            <a:ext cx="256032" cy="109728"/>
          </a:xfrm>
          <a:prstGeom prst="line">
            <a:avLst/>
          </a:prstGeom>
          <a:ln w="12700">
            <a:solidFill>
              <a:srgbClr val="60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0428732" y="3662172"/>
            <a:ext cx="82296" cy="82296"/>
          </a:xfrm>
          <a:prstGeom prst="ellipse">
            <a:avLst/>
          </a:prstGeom>
          <a:solidFill>
            <a:srgbClr val="5D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" name="Connector 46"/>
          <p:cNvCxnSpPr/>
          <p:nvPr/>
        </p:nvCxnSpPr>
        <p:spPr>
          <a:xfrm flipV="1">
            <a:off x="10716768" y="4069080"/>
            <a:ext cx="256032" cy="109728"/>
          </a:xfrm>
          <a:prstGeom prst="line">
            <a:avLst/>
          </a:prstGeom>
          <a:ln w="12700">
            <a:solidFill>
              <a:srgbClr val="5D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10931652" y="4027932"/>
            <a:ext cx="82296" cy="82296"/>
          </a:xfrm>
          <a:prstGeom prst="ellipse">
            <a:avLst/>
          </a:prstGeom>
          <a:solidFill>
            <a:srgbClr val="6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" name="Connector 48"/>
          <p:cNvCxnSpPr/>
          <p:nvPr/>
        </p:nvCxnSpPr>
        <p:spPr>
          <a:xfrm flipV="1">
            <a:off x="8705088" y="4617720"/>
            <a:ext cx="256032" cy="109728"/>
          </a:xfrm>
          <a:prstGeom prst="line">
            <a:avLst/>
          </a:prstGeom>
          <a:ln w="12700">
            <a:solidFill>
              <a:srgbClr val="60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8919972" y="4576572"/>
            <a:ext cx="82296" cy="82296"/>
          </a:xfrm>
          <a:prstGeom prst="ellipse">
            <a:avLst/>
          </a:prstGeom>
          <a:solidFill>
            <a:srgbClr val="6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1" name="Connector 50"/>
          <p:cNvCxnSpPr/>
          <p:nvPr/>
        </p:nvCxnSpPr>
        <p:spPr>
          <a:xfrm flipV="1">
            <a:off x="9345168" y="4709160"/>
            <a:ext cx="256032" cy="109728"/>
          </a:xfrm>
          <a:prstGeom prst="line">
            <a:avLst/>
          </a:prstGeom>
          <a:ln w="12700">
            <a:solidFill>
              <a:srgbClr val="5D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9560052" y="4668012"/>
            <a:ext cx="82296" cy="82296"/>
          </a:xfrm>
          <a:prstGeom prst="ellipse">
            <a:avLst/>
          </a:prstGeom>
          <a:solidFill>
            <a:srgbClr val="5D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" name="Connector 52"/>
          <p:cNvCxnSpPr/>
          <p:nvPr/>
        </p:nvCxnSpPr>
        <p:spPr>
          <a:xfrm flipV="1">
            <a:off x="9985248" y="4572000"/>
            <a:ext cx="256032" cy="109728"/>
          </a:xfrm>
          <a:prstGeom prst="line">
            <a:avLst/>
          </a:prstGeom>
          <a:ln w="12700">
            <a:solidFill>
              <a:srgbClr val="60D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10200132" y="4530852"/>
            <a:ext cx="82296" cy="82296"/>
          </a:xfrm>
          <a:prstGeom prst="ellipse">
            <a:avLst/>
          </a:prstGeom>
          <a:solidFill>
            <a:srgbClr val="6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5" name="Connector 54"/>
          <p:cNvCxnSpPr/>
          <p:nvPr/>
        </p:nvCxnSpPr>
        <p:spPr>
          <a:xfrm flipV="1">
            <a:off x="10579608" y="4800600"/>
            <a:ext cx="256032" cy="109728"/>
          </a:xfrm>
          <a:prstGeom prst="line">
            <a:avLst/>
          </a:prstGeom>
          <a:ln w="12700">
            <a:solidFill>
              <a:srgbClr val="5D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10794492" y="4759452"/>
            <a:ext cx="82296" cy="82296"/>
          </a:xfrm>
          <a:prstGeom prst="ellipse">
            <a:avLst/>
          </a:prstGeom>
          <a:solidFill>
            <a:srgbClr val="6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0195560" y="1417320"/>
            <a:ext cx="237744" cy="237744"/>
          </a:xfrm>
          <a:prstGeom prst="ellipse">
            <a:avLst/>
          </a:prstGeom>
          <a:solidFill>
            <a:srgbClr val="F5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497312" y="1426464"/>
            <a:ext cx="6400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1">
                <a:solidFill>
                  <a:srgbClr val="F5C95C"/>
                </a:solidFill>
                <a:latin typeface="Aptos"/>
              </a:rPr>
              <a:t>TARGET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5320" y="5440680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>
                <a:solidFill>
                  <a:srgbClr val="EEF3FA"/>
                </a:solidFill>
                <a:latin typeface="Aptos"/>
              </a:rPr>
              <a:t>Local rules → global behavior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73952"/>
            <a:ext cx="6858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dirty="0" err="1">
                <a:solidFill>
                  <a:srgbClr val="A4B0C3"/>
                </a:solidFill>
                <a:latin typeface="Aptos"/>
              </a:rPr>
              <a:t>HiveFlight</a:t>
            </a:r>
            <a:r>
              <a:rPr sz="800" b="0" dirty="0">
                <a:solidFill>
                  <a:srgbClr val="A4B0C3"/>
                </a:solidFill>
                <a:latin typeface="Aptos"/>
              </a:rPr>
              <a:t> • C</a:t>
            </a:r>
            <a:r>
              <a:rPr lang="en-GB" sz="800" b="0" dirty="0">
                <a:solidFill>
                  <a:srgbClr val="A4B0C3"/>
                </a:solidFill>
                <a:latin typeface="Aptos"/>
              </a:rPr>
              <a:t>++</a:t>
            </a:r>
            <a:endParaRPr sz="800" b="0" dirty="0">
              <a:solidFill>
                <a:srgbClr val="A4B0C3"/>
              </a:solidFill>
              <a:latin typeface="Apto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A4B0C3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60D2A0"/>
                </a:solidFill>
                <a:latin typeface="Aptos"/>
              </a:rPr>
              <a:t>01 • WHAT IS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EEF3FA"/>
                </a:solidFill>
                <a:latin typeface="Aptos"/>
              </a:rPr>
              <a:t>The one-minute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088136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A4B0C3"/>
                </a:solidFill>
                <a:latin typeface="Aptos"/>
              </a:rPr>
              <a:t>The project is small enough to understand, but rich enough to show real C++ systems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514600" cy="123444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2011680"/>
            <a:ext cx="10972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60D2A0"/>
                </a:solidFill>
                <a:latin typeface="Aptos"/>
              </a:rPr>
              <a:t>30+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542032"/>
            <a:ext cx="21488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A4B0C3"/>
                </a:solidFill>
                <a:latin typeface="Aptos"/>
              </a:rPr>
              <a:t>autonomous drones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74519"/>
            <a:ext cx="2514600" cy="123444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93592" y="2011680"/>
            <a:ext cx="10972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5DAAFF"/>
                </a:solidFill>
                <a:latin typeface="Aptos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542032"/>
            <a:ext cx="21488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A4B0C3"/>
                </a:solidFill>
                <a:latin typeface="Aptos"/>
              </a:rPr>
              <a:t>weighted steering behaviors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2514600" cy="123444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2011680"/>
            <a:ext cx="10972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F5C95C"/>
                </a:solidFill>
                <a:latin typeface="Aptos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542032"/>
            <a:ext cx="21488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A4B0C3"/>
                </a:solidFill>
                <a:latin typeface="Aptos"/>
              </a:rPr>
              <a:t>simulation FPS target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874519"/>
            <a:ext cx="2514600" cy="123444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62872" y="2011680"/>
            <a:ext cx="10972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F27474"/>
                </a:solidFill>
                <a:latin typeface="Aptos"/>
              </a:rPr>
              <a:t>3D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2542032"/>
            <a:ext cx="21488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A4B0C3"/>
                </a:solidFill>
                <a:latin typeface="Aptos"/>
              </a:rPr>
              <a:t>200 × 200 × 150 world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29000"/>
            <a:ext cx="10972800" cy="2148840"/>
          </a:xfrm>
          <a:prstGeom prst="roundRect">
            <a:avLst/>
          </a:prstGeom>
          <a:solidFill>
            <a:srgbClr val="1B2434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657600"/>
            <a:ext cx="53035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 dirty="0">
                <a:solidFill>
                  <a:srgbClr val="EEF3FA"/>
                </a:solidFill>
                <a:latin typeface="Aptos"/>
              </a:rPr>
              <a:t>Why it is a good C++ </a:t>
            </a:r>
            <a:r>
              <a:rPr lang="en-GB" sz="1800" b="1" dirty="0">
                <a:solidFill>
                  <a:srgbClr val="EEF3FA"/>
                </a:solidFill>
                <a:latin typeface="Aptos"/>
              </a:rPr>
              <a:t>Show &amp; Tell</a:t>
            </a:r>
            <a:r>
              <a:rPr sz="1800" b="1" dirty="0">
                <a:solidFill>
                  <a:srgbClr val="EEF3FA"/>
                </a:solidFill>
                <a:latin typeface="Aptos"/>
              </a:rPr>
              <a:t>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102412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EEF3FA"/>
                </a:solidFill>
                <a:latin typeface="Aptos"/>
              </a:defRPr>
            </a:pPr>
            <a:r>
              <a:t>• The standalone core uses C++17 + STL; no robotics stack is required to try it.</a:t>
            </a:r>
          </a:p>
          <a:p>
            <a:pPr>
              <a:spcAft>
                <a:spcPts val="900"/>
              </a:spcAft>
              <a:defRPr sz="1400">
                <a:solidFill>
                  <a:srgbClr val="EEF3FA"/>
                </a:solidFill>
                <a:latin typeface="Aptos"/>
              </a:defRPr>
            </a:pPr>
            <a:r>
              <a:t>• The same simulation state can feed ASCII, OpenGL, OBJ/CSV export, or ROS 2 + Gazebo.</a:t>
            </a:r>
          </a:p>
          <a:p>
            <a:pPr>
              <a:spcAft>
                <a:spcPts val="900"/>
              </a:spcAft>
              <a:defRPr sz="1400">
                <a:solidFill>
                  <a:srgbClr val="EEF3FA"/>
                </a:solidFill>
                <a:latin typeface="Aptos"/>
              </a:defRPr>
            </a:pPr>
            <a:r>
              <a:t>• The interesting part is not the drone model—it is turning five local rules into stable swarm motion.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6858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dirty="0" err="1">
                <a:solidFill>
                  <a:srgbClr val="A4B0C3"/>
                </a:solidFill>
                <a:latin typeface="Aptos"/>
              </a:rPr>
              <a:t>HiveFlight</a:t>
            </a:r>
            <a:r>
              <a:rPr sz="800" b="0" dirty="0">
                <a:solidFill>
                  <a:srgbClr val="A4B0C3"/>
                </a:solidFill>
                <a:latin typeface="Aptos"/>
              </a:rPr>
              <a:t> • C++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A4B0C3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60D2A0"/>
                </a:solidFill>
                <a:latin typeface="Aptos"/>
              </a:rPr>
              <a:t>02 • THE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EEF3FA"/>
                </a:solidFill>
                <a:latin typeface="Aptos"/>
              </a:rPr>
              <a:t>What each drone actually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088136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A4B0C3"/>
                </a:solidFill>
                <a:latin typeface="Aptos"/>
              </a:rPr>
              <a:t>Five steering influences are combined every tick; weights decide what wins when behaviors conflict.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828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60D2A0"/>
                </a:solidFill>
                <a:latin typeface="Aptos"/>
              </a:rPr>
              <a:t>SEPARATION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1828800"/>
            <a:ext cx="28346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4B0C3"/>
                </a:solidFill>
                <a:latin typeface="Aptos"/>
              </a:rPr>
              <a:t>stay out of neighbors’ 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0" y="1819656"/>
            <a:ext cx="5029200" cy="310896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504688" y="1874519"/>
            <a:ext cx="2896819" cy="201168"/>
          </a:xfrm>
          <a:prstGeom prst="roundRect">
            <a:avLst/>
          </a:prstGeom>
          <a:solidFill>
            <a:srgbClr val="6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07040" y="1828800"/>
            <a:ext cx="5029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100" b="1">
                <a:solidFill>
                  <a:srgbClr val="EEF3FA"/>
                </a:solidFill>
                <a:latin typeface="Aptos"/>
              </a:rPr>
              <a:t>1.8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42032"/>
            <a:ext cx="1828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5DAAFF"/>
                </a:solidFill>
                <a:latin typeface="Aptos"/>
              </a:rPr>
              <a:t>ALIGNMENT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542032"/>
            <a:ext cx="28346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4B0C3"/>
                </a:solidFill>
                <a:latin typeface="Aptos"/>
              </a:rPr>
              <a:t>match local velocity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532888"/>
            <a:ext cx="5029200" cy="310896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504688" y="2587752"/>
            <a:ext cx="1609344" cy="201168"/>
          </a:xfrm>
          <a:prstGeom prst="roundRect">
            <a:avLst/>
          </a:prstGeom>
          <a:solidFill>
            <a:srgbClr val="5D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7040" y="2542032"/>
            <a:ext cx="5029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100" b="1">
                <a:solidFill>
                  <a:srgbClr val="EEF3FA"/>
                </a:solidFill>
                <a:latin typeface="Aptos"/>
              </a:rPr>
              <a:t>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55264"/>
            <a:ext cx="1828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F5C95C"/>
                </a:solidFill>
                <a:latin typeface="Aptos"/>
              </a:rPr>
              <a:t>COHESION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3255264"/>
            <a:ext cx="28346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4B0C3"/>
                </a:solidFill>
                <a:latin typeface="Aptos"/>
              </a:rPr>
              <a:t>stay with the flock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3246120"/>
            <a:ext cx="5029200" cy="310896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504688" y="3300984"/>
            <a:ext cx="1609344" cy="201168"/>
          </a:xfrm>
          <a:prstGeom prst="roundRect">
            <a:avLst/>
          </a:prstGeom>
          <a:solidFill>
            <a:srgbClr val="F5C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607040" y="3255264"/>
            <a:ext cx="5029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100" b="1">
                <a:solidFill>
                  <a:srgbClr val="EEF3FA"/>
                </a:solidFill>
                <a:latin typeface="Aptos"/>
              </a:rPr>
              <a:t>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968496"/>
            <a:ext cx="1828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F27474"/>
                </a:solidFill>
                <a:latin typeface="Aptos"/>
              </a:rPr>
              <a:t>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968496"/>
            <a:ext cx="28346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4B0C3"/>
                </a:solidFill>
                <a:latin typeface="Aptos"/>
              </a:rPr>
              <a:t>move toward the goal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40680" y="3959352"/>
            <a:ext cx="5029200" cy="310896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504688" y="4014216"/>
            <a:ext cx="1287475" cy="201168"/>
          </a:xfrm>
          <a:prstGeom prst="roundRect">
            <a:avLst/>
          </a:prstGeom>
          <a:solidFill>
            <a:srgbClr val="F2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607040" y="3968496"/>
            <a:ext cx="5029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100" b="1">
                <a:solidFill>
                  <a:srgbClr val="EEF3FA"/>
                </a:solidFill>
                <a:latin typeface="Aptos"/>
              </a:rPr>
              <a:t>0.8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681728"/>
            <a:ext cx="1828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60D2A0"/>
                </a:solidFill>
                <a:latin typeface="Aptos"/>
              </a:rPr>
              <a:t>OBSTACLE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4681728"/>
            <a:ext cx="28346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4B0C3"/>
                </a:solidFill>
                <a:latin typeface="Aptos"/>
              </a:rPr>
              <a:t>repel from hazards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4672584"/>
            <a:ext cx="5029200" cy="310896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504688" y="4727448"/>
            <a:ext cx="4023360" cy="201168"/>
          </a:xfrm>
          <a:prstGeom prst="roundRect">
            <a:avLst/>
          </a:prstGeom>
          <a:solidFill>
            <a:srgbClr val="6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07040" y="4681728"/>
            <a:ext cx="5029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100" b="1">
                <a:solidFill>
                  <a:srgbClr val="EEF3FA"/>
                </a:solidFill>
                <a:latin typeface="Aptos"/>
              </a:rPr>
              <a:t>2.5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440680"/>
            <a:ext cx="10789920" cy="658368"/>
          </a:xfrm>
          <a:prstGeom prst="roundRect">
            <a:avLst/>
          </a:prstGeom>
          <a:solidFill>
            <a:srgbClr val="1B2434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" y="5605272"/>
            <a:ext cx="77724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EEF3FA"/>
                </a:solidFill>
                <a:latin typeface="Aptos"/>
              </a:rPr>
              <a:t>Conceptually:  total steering = Σ(weight × behavior)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5605272"/>
            <a:ext cx="31546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100" b="0">
                <a:solidFill>
                  <a:srgbClr val="A4B0C3"/>
                </a:solidFill>
                <a:latin typeface="Aptos"/>
              </a:rPr>
              <a:t>then limit force → update velocity → update position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6858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dirty="0" err="1">
                <a:solidFill>
                  <a:srgbClr val="A4B0C3"/>
                </a:solidFill>
                <a:latin typeface="Aptos"/>
              </a:rPr>
              <a:t>HiveFlight</a:t>
            </a:r>
            <a:r>
              <a:rPr sz="800" b="0" dirty="0">
                <a:solidFill>
                  <a:srgbClr val="A4B0C3"/>
                </a:solidFill>
                <a:latin typeface="Aptos"/>
              </a:rPr>
              <a:t> • C++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A4B0C3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60D2A0"/>
                </a:solidFill>
                <a:latin typeface="Aptos"/>
              </a:rPr>
              <a:t>03 • C++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EEF3FA"/>
                </a:solidFill>
                <a:latin typeface="Aptos"/>
              </a:rPr>
              <a:t>The performance trick: don’t compare everyone with everyone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088136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A4B0C3"/>
                </a:solidFill>
                <a:latin typeface="Aptos"/>
              </a:rPr>
              <a:t>Neighbor queries are the hot path in flocking; HiveFlight uses a spatial grid to avoid the full pairwise search.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4937760" cy="35661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1089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>
                <a:solidFill>
                  <a:srgbClr val="EEF3FA"/>
                </a:solidFill>
                <a:latin typeface="Aptos"/>
              </a:rPr>
              <a:t>Naïve neighbor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42062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A4B0C3"/>
                </a:solidFill>
                <a:latin typeface="Aptos"/>
              </a:rPr>
              <a:t>For n drones, checking every pair grows roughly as n².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493008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3739896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14400" y="3986783"/>
            <a:ext cx="73152" cy="73152"/>
          </a:xfrm>
          <a:prstGeom prst="ellipse">
            <a:avLst/>
          </a:prstGeom>
          <a:solidFill>
            <a:srgbClr val="F2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4233672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4480560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14400" y="4727448"/>
            <a:ext cx="73152" cy="73152"/>
          </a:xfrm>
          <a:prstGeom prst="ellipse">
            <a:avLst/>
          </a:prstGeom>
          <a:solidFill>
            <a:srgbClr val="F2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417320" y="3246120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417320" y="3739896"/>
            <a:ext cx="73152" cy="73152"/>
          </a:xfrm>
          <a:prstGeom prst="ellipse">
            <a:avLst/>
          </a:prstGeom>
          <a:solidFill>
            <a:srgbClr val="F2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417320" y="3986783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417320" y="4233672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417320" y="4480560"/>
            <a:ext cx="73152" cy="73152"/>
          </a:xfrm>
          <a:prstGeom prst="ellipse">
            <a:avLst/>
          </a:prstGeom>
          <a:solidFill>
            <a:srgbClr val="F2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417320" y="4727448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920240" y="3246120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920240" y="3493008"/>
            <a:ext cx="73152" cy="73152"/>
          </a:xfrm>
          <a:prstGeom prst="ellipse">
            <a:avLst/>
          </a:prstGeom>
          <a:solidFill>
            <a:srgbClr val="F2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920240" y="3986783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920240" y="4233672"/>
            <a:ext cx="73152" cy="73152"/>
          </a:xfrm>
          <a:prstGeom prst="ellipse">
            <a:avLst/>
          </a:prstGeom>
          <a:solidFill>
            <a:srgbClr val="F2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920240" y="4480560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920240" y="4727448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423160" y="3246120"/>
            <a:ext cx="73152" cy="73152"/>
          </a:xfrm>
          <a:prstGeom prst="ellipse">
            <a:avLst/>
          </a:prstGeom>
          <a:solidFill>
            <a:srgbClr val="F2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423160" y="3493008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423160" y="3739896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423160" y="4233672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423160" y="4480560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423160" y="4727448"/>
            <a:ext cx="73152" cy="73152"/>
          </a:xfrm>
          <a:prstGeom prst="ellipse">
            <a:avLst/>
          </a:prstGeom>
          <a:solidFill>
            <a:srgbClr val="F2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926080" y="3246120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926080" y="3493008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926080" y="3739896"/>
            <a:ext cx="73152" cy="73152"/>
          </a:xfrm>
          <a:prstGeom prst="ellipse">
            <a:avLst/>
          </a:prstGeom>
          <a:solidFill>
            <a:srgbClr val="F2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926080" y="3986783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926080" y="4480560"/>
            <a:ext cx="73152" cy="73152"/>
          </a:xfrm>
          <a:prstGeom prst="ellipse">
            <a:avLst/>
          </a:prstGeom>
          <a:solidFill>
            <a:srgbClr val="F2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926080" y="4727448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3429000" y="3246120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429000" y="3493008"/>
            <a:ext cx="73152" cy="73152"/>
          </a:xfrm>
          <a:prstGeom prst="ellipse">
            <a:avLst/>
          </a:prstGeom>
          <a:solidFill>
            <a:srgbClr val="F2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429000" y="3739896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429000" y="3986783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429000" y="4233672"/>
            <a:ext cx="73152" cy="73152"/>
          </a:xfrm>
          <a:prstGeom prst="ellipse">
            <a:avLst/>
          </a:prstGeom>
          <a:solidFill>
            <a:srgbClr val="F2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429000" y="4727448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931920" y="3246120"/>
            <a:ext cx="73152" cy="73152"/>
          </a:xfrm>
          <a:prstGeom prst="ellipse">
            <a:avLst/>
          </a:prstGeom>
          <a:solidFill>
            <a:srgbClr val="F2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3931920" y="3493008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3931920" y="3739896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3931920" y="3986783"/>
            <a:ext cx="73152" cy="73152"/>
          </a:xfrm>
          <a:prstGeom prst="ellipse">
            <a:avLst/>
          </a:prstGeom>
          <a:solidFill>
            <a:srgbClr val="F2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3931920" y="4233672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3931920" y="4480560"/>
            <a:ext cx="73152" cy="73152"/>
          </a:xfrm>
          <a:prstGeom prst="ellipse">
            <a:avLst/>
          </a:prstGeom>
          <a:solidFill>
            <a:srgbClr val="303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4400" y="5074920"/>
            <a:ext cx="36576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F27474"/>
                </a:solidFill>
                <a:latin typeface="Aptos"/>
              </a:rPr>
              <a:t>lots of irrelevant comparisons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897880" y="1828800"/>
            <a:ext cx="5623560" cy="35661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72200" y="2057400"/>
            <a:ext cx="40233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>
                <a:solidFill>
                  <a:srgbClr val="EEF3FA"/>
                </a:solidFill>
                <a:latin typeface="Aptos"/>
              </a:rPr>
              <a:t>Spatial-grid neighbor lookup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2514600"/>
            <a:ext cx="466344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A4B0C3"/>
                </a:solidFill>
                <a:latin typeface="Aptos"/>
              </a:rPr>
              <a:t>Partition space into cells; inspect nearby cells only.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400800" y="3154680"/>
            <a:ext cx="0" cy="1645920"/>
          </a:xfrm>
          <a:prstGeom prst="line">
            <a:avLst/>
          </a:prstGeom>
          <a:ln w="127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059168" y="3154680"/>
            <a:ext cx="0" cy="1645920"/>
          </a:xfrm>
          <a:prstGeom prst="line">
            <a:avLst/>
          </a:prstGeom>
          <a:ln w="127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717536" y="3154680"/>
            <a:ext cx="0" cy="1645920"/>
          </a:xfrm>
          <a:prstGeom prst="line">
            <a:avLst/>
          </a:prstGeom>
          <a:ln w="127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8375904" y="3154680"/>
            <a:ext cx="0" cy="1645920"/>
          </a:xfrm>
          <a:prstGeom prst="line">
            <a:avLst/>
          </a:prstGeom>
          <a:ln w="127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034272" y="3154680"/>
            <a:ext cx="0" cy="1645920"/>
          </a:xfrm>
          <a:prstGeom prst="line">
            <a:avLst/>
          </a:prstGeom>
          <a:ln w="127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692640" y="3154680"/>
            <a:ext cx="0" cy="1645920"/>
          </a:xfrm>
          <a:prstGeom prst="line">
            <a:avLst/>
          </a:prstGeom>
          <a:ln w="127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400800" y="3154680"/>
            <a:ext cx="3291840" cy="0"/>
          </a:xfrm>
          <a:prstGeom prst="line">
            <a:avLst/>
          </a:prstGeom>
          <a:ln w="127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400800" y="3703320"/>
            <a:ext cx="3291840" cy="0"/>
          </a:xfrm>
          <a:prstGeom prst="line">
            <a:avLst/>
          </a:prstGeom>
          <a:ln w="127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400800" y="4251960"/>
            <a:ext cx="3291840" cy="0"/>
          </a:xfrm>
          <a:prstGeom prst="line">
            <a:avLst/>
          </a:prstGeom>
          <a:ln w="127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400800" y="4800600"/>
            <a:ext cx="3291840" cy="0"/>
          </a:xfrm>
          <a:prstGeom prst="line">
            <a:avLst/>
          </a:prstGeom>
          <a:ln w="127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6720840" y="3429000"/>
            <a:ext cx="109728" cy="109728"/>
          </a:xfrm>
          <a:prstGeom prst="ellipse">
            <a:avLst/>
          </a:prstGeom>
          <a:solidFill>
            <a:srgbClr val="5D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7086600" y="3931920"/>
            <a:ext cx="109728" cy="109728"/>
          </a:xfrm>
          <a:prstGeom prst="ellipse">
            <a:avLst/>
          </a:prstGeom>
          <a:solidFill>
            <a:srgbClr val="5D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7543800" y="3611880"/>
            <a:ext cx="109728" cy="109728"/>
          </a:xfrm>
          <a:prstGeom prst="ellipse">
            <a:avLst/>
          </a:prstGeom>
          <a:solidFill>
            <a:srgbClr val="5D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8138160" y="4160520"/>
            <a:ext cx="109728" cy="109728"/>
          </a:xfrm>
          <a:prstGeom prst="ellipse">
            <a:avLst/>
          </a:prstGeom>
          <a:solidFill>
            <a:srgbClr val="5D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8732520" y="3657600"/>
            <a:ext cx="109728" cy="109728"/>
          </a:xfrm>
          <a:prstGeom prst="ellipse">
            <a:avLst/>
          </a:prstGeom>
          <a:solidFill>
            <a:srgbClr val="5D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9098280" y="3977639"/>
            <a:ext cx="109728" cy="109728"/>
          </a:xfrm>
          <a:prstGeom prst="ellipse">
            <a:avLst/>
          </a:prstGeom>
          <a:solidFill>
            <a:srgbClr val="5D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995160" y="3246120"/>
            <a:ext cx="1325880" cy="1143000"/>
          </a:xfrm>
          <a:prstGeom prst="rect">
            <a:avLst/>
          </a:prstGeom>
          <a:noFill/>
          <a:ln w="25400">
            <a:solidFill>
              <a:srgbClr val="60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114032" y="4480560"/>
            <a:ext cx="10972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60D2A0"/>
                </a:solidFill>
                <a:latin typeface="Aptos"/>
              </a:rPr>
              <a:t>focus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72200" y="5074920"/>
            <a:ext cx="47548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60D2A0"/>
                </a:solidFill>
                <a:latin typeface="Aptos"/>
              </a:rPr>
              <a:t>Docs report O(n) average force calculation with spatial optimization.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6473952"/>
            <a:ext cx="6858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dirty="0" err="1">
                <a:solidFill>
                  <a:srgbClr val="A4B0C3"/>
                </a:solidFill>
                <a:latin typeface="Aptos"/>
              </a:rPr>
              <a:t>HiveFlight</a:t>
            </a:r>
            <a:r>
              <a:rPr sz="800" b="0" dirty="0">
                <a:solidFill>
                  <a:srgbClr val="A4B0C3"/>
                </a:solidFill>
                <a:latin typeface="Aptos"/>
              </a:rPr>
              <a:t> • C++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A4B0C3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60D2A0"/>
                </a:solidFill>
                <a:latin typeface="Aptos"/>
              </a:rPr>
              <a:t>04 •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EEF3FA"/>
                </a:solidFill>
                <a:latin typeface="Aptos"/>
              </a:rPr>
              <a:t>The simulation loop is deliberately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088136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A4B0C3"/>
                </a:solidFill>
                <a:latin typeface="Aptos"/>
              </a:rPr>
              <a:t>Simple integration makes the behavior easy to reason about and tune.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965960"/>
            <a:ext cx="457200" cy="457200"/>
          </a:xfrm>
          <a:prstGeom prst="ellipse">
            <a:avLst/>
          </a:prstGeom>
          <a:solidFill>
            <a:srgbClr val="6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993392"/>
            <a:ext cx="45720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B0F17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51760"/>
            <a:ext cx="1645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>
                <a:solidFill>
                  <a:srgbClr val="EEF3FA"/>
                </a:solidFill>
                <a:latin typeface="Aptos"/>
              </a:rPr>
              <a:t>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63240"/>
            <a:ext cx="19202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0">
                <a:solidFill>
                  <a:srgbClr val="A4B0C3"/>
                </a:solidFill>
                <a:latin typeface="Aptos"/>
              </a:rPr>
              <a:t>neighbors + obstacles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69848" y="2194560"/>
            <a:ext cx="1444752" cy="0"/>
          </a:xfrm>
          <a:prstGeom prst="line">
            <a:avLst/>
          </a:prstGeom>
          <a:ln w="254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862072" y="1965960"/>
            <a:ext cx="457200" cy="457200"/>
          </a:xfrm>
          <a:prstGeom prst="ellipse">
            <a:avLst/>
          </a:prstGeom>
          <a:solidFill>
            <a:srgbClr val="5D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62072" y="1993392"/>
            <a:ext cx="45720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B0F17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2651760"/>
            <a:ext cx="1645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>
                <a:solidFill>
                  <a:srgbClr val="EEF3FA"/>
                </a:solidFill>
                <a:latin typeface="Aptos"/>
              </a:rPr>
              <a:t>COMBINE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3063240"/>
            <a:ext cx="19202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0">
                <a:solidFill>
                  <a:srgbClr val="A4B0C3"/>
                </a:solidFill>
                <a:latin typeface="Aptos"/>
              </a:rPr>
              <a:t>weighted steering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37560" y="2194560"/>
            <a:ext cx="1444752" cy="0"/>
          </a:xfrm>
          <a:prstGeom prst="line">
            <a:avLst/>
          </a:prstGeom>
          <a:ln w="254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129784" y="1965960"/>
            <a:ext cx="457200" cy="457200"/>
          </a:xfrm>
          <a:prstGeom prst="ellipse">
            <a:avLst/>
          </a:prstGeom>
          <a:solidFill>
            <a:srgbClr val="6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9784" y="1993392"/>
            <a:ext cx="45720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B0F17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8344" y="2651760"/>
            <a:ext cx="1645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>
                <a:solidFill>
                  <a:srgbClr val="EEF3FA"/>
                </a:solidFill>
                <a:latin typeface="Aptos"/>
              </a:rPr>
              <a:t>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1184" y="3063240"/>
            <a:ext cx="19202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0">
                <a:solidFill>
                  <a:srgbClr val="A4B0C3"/>
                </a:solidFill>
                <a:latin typeface="Aptos"/>
              </a:rPr>
              <a:t>force + speed caps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05272" y="2194560"/>
            <a:ext cx="1444752" cy="0"/>
          </a:xfrm>
          <a:prstGeom prst="line">
            <a:avLst/>
          </a:prstGeom>
          <a:ln w="254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397496" y="1965960"/>
            <a:ext cx="457200" cy="457200"/>
          </a:xfrm>
          <a:prstGeom prst="ellipse">
            <a:avLst/>
          </a:prstGeom>
          <a:solidFill>
            <a:srgbClr val="5D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97496" y="1993392"/>
            <a:ext cx="45720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B0F17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6056" y="2651760"/>
            <a:ext cx="1645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>
                <a:solidFill>
                  <a:srgbClr val="EEF3FA"/>
                </a:solidFill>
                <a:latin typeface="Aptos"/>
              </a:rPr>
              <a:t>INTEGRATE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3063240"/>
            <a:ext cx="19202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0">
                <a:solidFill>
                  <a:srgbClr val="A4B0C3"/>
                </a:solidFill>
                <a:latin typeface="Aptos"/>
              </a:rPr>
              <a:t>velocity + position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72983" y="2194560"/>
            <a:ext cx="1444753" cy="0"/>
          </a:xfrm>
          <a:prstGeom prst="line">
            <a:avLst/>
          </a:prstGeom>
          <a:ln w="254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665208" y="1965960"/>
            <a:ext cx="457200" cy="457200"/>
          </a:xfrm>
          <a:prstGeom prst="ellipse">
            <a:avLst/>
          </a:prstGeom>
          <a:solidFill>
            <a:srgbClr val="60D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65208" y="1993392"/>
            <a:ext cx="457200" cy="38404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B0F17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3768" y="2651760"/>
            <a:ext cx="16459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>
                <a:solidFill>
                  <a:srgbClr val="EEF3FA"/>
                </a:solidFill>
                <a:latin typeface="Aptos"/>
              </a:rPr>
              <a:t>ACCOUNT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608" y="3063240"/>
            <a:ext cx="19202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0">
                <a:solidFill>
                  <a:srgbClr val="A4B0C3"/>
                </a:solidFill>
                <a:latin typeface="Aptos"/>
              </a:rPr>
              <a:t>battery + bounds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069080"/>
            <a:ext cx="10744200" cy="1417320"/>
          </a:xfrm>
          <a:prstGeom prst="roundRect">
            <a:avLst/>
          </a:prstGeom>
          <a:solidFill>
            <a:srgbClr val="1B2434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4389120"/>
            <a:ext cx="47548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>
                <a:solidFill>
                  <a:srgbClr val="EEF3FA"/>
                </a:solidFill>
                <a:latin typeface="Aptos"/>
              </a:rPr>
              <a:t>a = limit(Σ weighted behaviors)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892040"/>
            <a:ext cx="56692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>
                <a:solidFill>
                  <a:srgbClr val="5DAAFF"/>
                </a:solidFill>
                <a:latin typeface="Aptos"/>
              </a:rPr>
              <a:t>v ← limit(v + a·dt)     p ← p + v·dt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663440"/>
            <a:ext cx="24688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1300" b="1">
                <a:solidFill>
                  <a:srgbClr val="F5C95C"/>
                </a:solidFill>
                <a:latin typeface="Aptos"/>
              </a:rPr>
              <a:t>dt = 0.016 s (60 FPS)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6858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dirty="0" err="1">
                <a:solidFill>
                  <a:srgbClr val="A4B0C3"/>
                </a:solidFill>
                <a:latin typeface="Aptos"/>
              </a:rPr>
              <a:t>HiveFlight</a:t>
            </a:r>
            <a:r>
              <a:rPr sz="800" b="0" dirty="0">
                <a:solidFill>
                  <a:srgbClr val="A4B0C3"/>
                </a:solidFill>
                <a:latin typeface="Aptos"/>
              </a:rPr>
              <a:t> • C++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A4B0C3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60D2A0"/>
                </a:solidFill>
                <a:latin typeface="Aptos"/>
              </a:rPr>
              <a:t>05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EEF3FA"/>
                </a:solidFill>
                <a:latin typeface="Aptos"/>
              </a:rPr>
              <a:t>One engine, several ways to see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088136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A4B0C3"/>
                </a:solidFill>
                <a:latin typeface="Aptos"/>
              </a:rPr>
              <a:t>The renderer is intentionally decoupled from the simulation state.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057400"/>
            <a:ext cx="3566160" cy="1188720"/>
          </a:xfrm>
          <a:prstGeom prst="roundRect">
            <a:avLst/>
          </a:prstGeom>
          <a:solidFill>
            <a:srgbClr val="1B2434"/>
          </a:solidFill>
          <a:ln w="12700">
            <a:solidFill>
              <a:srgbClr val="60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26280" y="2304288"/>
            <a:ext cx="31089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000" b="1">
                <a:solidFill>
                  <a:srgbClr val="EEF3FA"/>
                </a:solidFill>
                <a:latin typeface="Aptos"/>
              </a:rPr>
              <a:t>SwarmSimulation3D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2670048"/>
            <a:ext cx="2926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0">
                <a:solidFill>
                  <a:srgbClr val="A4B0C3"/>
                </a:solidFill>
                <a:latin typeface="Aptos"/>
              </a:rPr>
              <a:t>state + physics +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743200" cy="96012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10512"/>
            <a:ext cx="24688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60D2A0"/>
                </a:solidFill>
                <a:latin typeface="Aptos"/>
              </a:rPr>
              <a:t>Config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24688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A4B0C3"/>
                </a:solidFill>
                <a:latin typeface="Aptos"/>
              </a:rPr>
              <a:t>CMake / .conf / CLI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2743200" cy="96012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325112"/>
            <a:ext cx="24688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60D2A0"/>
                </a:solidFill>
                <a:latin typeface="Aptos"/>
              </a:rPr>
              <a:t>Vec3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24688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A4B0C3"/>
                </a:solidFill>
                <a:latin typeface="Aptos"/>
              </a:rPr>
              <a:t>3D math primitives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1645920"/>
            <a:ext cx="2743200" cy="96012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0" y="1810512"/>
            <a:ext cx="24688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60D2A0"/>
                </a:solidFill>
                <a:latin typeface="Aptos"/>
              </a:rPr>
              <a:t>SpatialGrid3D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148840"/>
            <a:ext cx="24688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A4B0C3"/>
                </a:solidFill>
                <a:latin typeface="Aptos"/>
              </a:rPr>
              <a:t>neighbor acceleration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4160520"/>
            <a:ext cx="2743200" cy="96012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0" y="4325112"/>
            <a:ext cx="246888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60D2A0"/>
                </a:solidFill>
                <a:latin typeface="Aptos"/>
              </a:rPr>
              <a:t>ROS 2 adapter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663440"/>
            <a:ext cx="246888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A4B0C3"/>
                </a:solidFill>
                <a:latin typeface="Aptos"/>
              </a:rPr>
              <a:t>robotics transport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486400"/>
            <a:ext cx="2834640" cy="54864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614416"/>
            <a:ext cx="28346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EEF3FA"/>
                </a:solidFill>
                <a:latin typeface="Aptos"/>
              </a:rPr>
              <a:t>ASCII / isometric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5486400"/>
            <a:ext cx="2834640" cy="54864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60520" y="5614416"/>
            <a:ext cx="28346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EEF3FA"/>
                </a:solidFill>
                <a:latin typeface="Aptos"/>
              </a:rPr>
              <a:t>OpenGL viewer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5486400"/>
            <a:ext cx="2834640" cy="54864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0" y="5614416"/>
            <a:ext cx="28346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EEF3FA"/>
                </a:solidFill>
                <a:latin typeface="Aptos"/>
              </a:rPr>
              <a:t>OBJ / CSV export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474720" y="2121408"/>
            <a:ext cx="822960" cy="393192"/>
          </a:xfrm>
          <a:prstGeom prst="line">
            <a:avLst/>
          </a:prstGeom>
          <a:ln w="25400">
            <a:solidFill>
              <a:srgbClr val="5D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474720" y="2788920"/>
            <a:ext cx="822960" cy="1828800"/>
          </a:xfrm>
          <a:prstGeom prst="line">
            <a:avLst/>
          </a:prstGeom>
          <a:ln w="25400">
            <a:solidFill>
              <a:srgbClr val="5D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63840" y="2121408"/>
            <a:ext cx="594360" cy="0"/>
          </a:xfrm>
          <a:prstGeom prst="line">
            <a:avLst/>
          </a:prstGeom>
          <a:ln w="25400">
            <a:solidFill>
              <a:srgbClr val="5D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63840" y="2788920"/>
            <a:ext cx="594360" cy="1783080"/>
          </a:xfrm>
          <a:prstGeom prst="line">
            <a:avLst/>
          </a:prstGeom>
          <a:ln w="25400">
            <a:solidFill>
              <a:srgbClr val="5DAA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2148840" y="3246120"/>
            <a:ext cx="3931920" cy="2240280"/>
          </a:xfrm>
          <a:prstGeom prst="line">
            <a:avLst/>
          </a:prstGeom>
          <a:ln w="254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5577840" y="3246120"/>
            <a:ext cx="502920" cy="2240280"/>
          </a:xfrm>
          <a:prstGeom prst="line">
            <a:avLst/>
          </a:prstGeom>
          <a:ln w="254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080760" y="3246120"/>
            <a:ext cx="2926080" cy="2240280"/>
          </a:xfrm>
          <a:prstGeom prst="line">
            <a:avLst/>
          </a:prstGeom>
          <a:ln w="254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6473952"/>
            <a:ext cx="6858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dirty="0" err="1">
                <a:solidFill>
                  <a:srgbClr val="A4B0C3"/>
                </a:solidFill>
                <a:latin typeface="Aptos"/>
              </a:rPr>
              <a:t>HiveFlight</a:t>
            </a:r>
            <a:r>
              <a:rPr sz="800" b="0" dirty="0">
                <a:solidFill>
                  <a:srgbClr val="A4B0C3"/>
                </a:solidFill>
                <a:latin typeface="Aptos"/>
              </a:rPr>
              <a:t> • C++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A4B0C3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60D2A0"/>
                </a:solidFill>
                <a:latin typeface="Aptos"/>
              </a:rPr>
              <a:t>06 • ROBOTICS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EEF3FA"/>
                </a:solidFill>
                <a:latin typeface="Aptos"/>
              </a:rPr>
              <a:t>ROS 2 + Gazebo: the C++ engine stays in charge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088136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A4B0C3"/>
                </a:solidFill>
                <a:latin typeface="Aptos"/>
              </a:rPr>
              <a:t>A useful boundary: Gazebo visualizes the world; it does not decide the swarm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03120"/>
            <a:ext cx="2240280" cy="123444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60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20574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60D2A0"/>
                </a:solidFill>
                <a:latin typeface="Aptos"/>
              </a:rPr>
              <a:t>C++ swarm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70048"/>
            <a:ext cx="20574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A4B0C3"/>
                </a:solidFill>
                <a:latin typeface="Aptos"/>
              </a:rPr>
              <a:t>SwarmSimulation3D
+ SpatialGrid3D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2103120"/>
            <a:ext cx="2240280" cy="123444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5D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94759" y="2286000"/>
            <a:ext cx="20574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5DAAFF"/>
                </a:solidFill>
                <a:latin typeface="Aptos"/>
              </a:rPr>
              <a:t>ROS 2 node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59" y="2670048"/>
            <a:ext cx="20574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A4B0C3"/>
                </a:solidFill>
                <a:latin typeface="Aptos"/>
              </a:rPr>
              <a:t>publishes poses,
targets &amp; assignments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2103120"/>
            <a:ext cx="2240280" cy="123444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F5C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03720" y="2286000"/>
            <a:ext cx="20574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F5C95C"/>
                </a:solidFill>
                <a:latin typeface="Aptos"/>
              </a:rPr>
              <a:t>Bridge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670048"/>
            <a:ext cx="20574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A4B0C3"/>
                </a:solidFill>
                <a:latin typeface="Aptos"/>
              </a:rPr>
              <a:t>translates ROS 2
state into Gazebo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2103120"/>
            <a:ext cx="2240280" cy="123444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F2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72600" y="2286000"/>
            <a:ext cx="20574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400" b="1">
                <a:solidFill>
                  <a:srgbClr val="F27474"/>
                </a:solidFill>
                <a:latin typeface="Aptos"/>
              </a:rPr>
              <a:t>Gazebo Classic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670048"/>
            <a:ext cx="20574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A4B0C3"/>
                </a:solidFill>
                <a:latin typeface="Aptos"/>
              </a:rPr>
              <a:t>models + world + GUI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34640" y="2715768"/>
            <a:ext cx="777240" cy="0"/>
          </a:xfrm>
          <a:prstGeom prst="line">
            <a:avLst/>
          </a:prstGeom>
          <a:ln w="254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943600" y="2715768"/>
            <a:ext cx="777240" cy="0"/>
          </a:xfrm>
          <a:prstGeom prst="line">
            <a:avLst/>
          </a:prstGeom>
          <a:ln w="254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9600" y="2715768"/>
            <a:ext cx="777240" cy="0"/>
          </a:xfrm>
          <a:prstGeom prst="line">
            <a:avLst/>
          </a:prstGeom>
          <a:ln w="25400">
            <a:solidFill>
              <a:srgbClr val="303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" y="3977639"/>
            <a:ext cx="10789920" cy="1508760"/>
          </a:xfrm>
          <a:prstGeom prst="roundRect">
            <a:avLst/>
          </a:prstGeom>
          <a:solidFill>
            <a:srgbClr val="1B2434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2926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EEF3FA"/>
                </a:solidFill>
                <a:latin typeface="Aptos"/>
              </a:rPr>
              <a:t>Why this is interesting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160520"/>
            <a:ext cx="7223760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EEF3FA"/>
                </a:solidFill>
                <a:latin typeface="Aptos"/>
              </a:defRPr>
            </a:pPr>
            <a:r>
              <a:t>• The standalone simulator remains useful without ROS.</a:t>
            </a:r>
          </a:p>
          <a:p>
            <a:pPr>
              <a:spcAft>
                <a:spcPts val="900"/>
              </a:spcAft>
              <a:defRPr sz="1300">
                <a:solidFill>
                  <a:srgbClr val="EEF3FA"/>
                </a:solidFill>
                <a:latin typeface="Aptos"/>
              </a:defRPr>
            </a:pPr>
            <a:r>
              <a:t>• ROS 2 is an integration layer, not the algorithm itself.</a:t>
            </a:r>
          </a:p>
          <a:p>
            <a:pPr>
              <a:spcAft>
                <a:spcPts val="900"/>
              </a:spcAft>
              <a:defRPr sz="1300">
                <a:solidFill>
                  <a:srgbClr val="EEF3FA"/>
                </a:solidFill>
                <a:latin typeface="Aptos"/>
              </a:defRPr>
            </a:pPr>
            <a:r>
              <a:t>• The repo includes a small `hf` CLI to build, run, kill, and check the simulation.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6858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dirty="0" err="1">
                <a:solidFill>
                  <a:srgbClr val="A4B0C3"/>
                </a:solidFill>
                <a:latin typeface="Aptos"/>
              </a:rPr>
              <a:t>HiveFlight</a:t>
            </a:r>
            <a:r>
              <a:rPr sz="800" b="0" dirty="0">
                <a:solidFill>
                  <a:srgbClr val="A4B0C3"/>
                </a:solidFill>
                <a:latin typeface="Aptos"/>
              </a:rPr>
              <a:t> • C++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A4B0C3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60D2A0"/>
                </a:solidFill>
                <a:latin typeface="Aptos"/>
              </a:rPr>
              <a:t>07 • TRY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EEF3FA"/>
                </a:solidFill>
                <a:latin typeface="Aptos"/>
              </a:rPr>
              <a:t>A reproducible demo in a few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088136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A4B0C3"/>
                </a:solidFill>
                <a:latin typeface="Aptos"/>
              </a:rPr>
              <a:t>The project has a low-friction standalone path before you touch ROS 2.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629400" cy="352044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60D2A0"/>
                </a:solidFill>
                <a:latin typeface="Aptos"/>
              </a:rPr>
              <a:t>Standalone C++17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5989320" cy="134806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>
                <a:solidFill>
                  <a:srgbClr val="EEF3FA"/>
                </a:solidFill>
                <a:latin typeface="Consolas"/>
              </a:rPr>
              <a:t>cd HiveFlight
bash build_linux.sh
./build/drone_swarm_3d --drones 30 --seed 42
./build/drone_swarm_3d --export csv drones.csv
./build/drone_swarm_3d --export obj output.obj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3729" y="4134365"/>
            <a:ext cx="20116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 dirty="0">
                <a:solidFill>
                  <a:srgbClr val="5DAAFF"/>
                </a:solidFill>
                <a:latin typeface="Aptos"/>
              </a:rPr>
              <a:t>Optional OpenGL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1"/>
            <a:ext cx="58521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EEF3FA"/>
                </a:solidFill>
                <a:latin typeface="Consolas"/>
              </a:rPr>
              <a:t>./build/</a:t>
            </a:r>
            <a:r>
              <a:rPr sz="1200" b="0" dirty="0" err="1">
                <a:solidFill>
                  <a:srgbClr val="EEF3FA"/>
                </a:solidFill>
                <a:latin typeface="Consolas"/>
              </a:rPr>
              <a:t>hiveflight_gl_viewer</a:t>
            </a:r>
            <a:r>
              <a:rPr sz="1200" b="0" dirty="0">
                <a:solidFill>
                  <a:srgbClr val="EEF3FA"/>
                </a:solidFill>
                <a:latin typeface="Consolas"/>
              </a:rPr>
              <a:t> --drones 60 --seed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828800"/>
            <a:ext cx="3977639" cy="3520440"/>
          </a:xfrm>
          <a:prstGeom prst="roundRect">
            <a:avLst/>
          </a:prstGeom>
          <a:solidFill>
            <a:srgbClr val="1B2434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18120" y="2103120"/>
            <a:ext cx="29260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1">
                <a:solidFill>
                  <a:srgbClr val="EEF3FA"/>
                </a:solidFill>
                <a:latin typeface="Aptos"/>
              </a:rPr>
              <a:t>Reported 3D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651760"/>
            <a:ext cx="12344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>
                <a:solidFill>
                  <a:srgbClr val="60D2A0"/>
                </a:solidFill>
                <a:latin typeface="Aptos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2670048"/>
            <a:ext cx="1828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4B0C3"/>
                </a:solidFill>
                <a:latin typeface="Aptos"/>
              </a:rPr>
              <a:t>drones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218688"/>
            <a:ext cx="12344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>
                <a:solidFill>
                  <a:srgbClr val="F5C95C"/>
                </a:solidFill>
                <a:latin typeface="Aptos"/>
              </a:rPr>
              <a:t>1800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3236976"/>
            <a:ext cx="1828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4B0C3"/>
                </a:solidFill>
                <a:latin typeface="Aptos"/>
              </a:rPr>
              <a:t>frames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785615"/>
            <a:ext cx="12344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>
                <a:solidFill>
                  <a:srgbClr val="60D2A0"/>
                </a:solidFill>
                <a:latin typeface="Aptos"/>
              </a:rPr>
              <a:t>28.8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803903"/>
            <a:ext cx="1828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4B0C3"/>
                </a:solidFill>
                <a:latin typeface="Aptos"/>
              </a:rPr>
              <a:t>sim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352544"/>
            <a:ext cx="12344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1">
                <a:solidFill>
                  <a:srgbClr val="F5C95C"/>
                </a:solidFill>
                <a:latin typeface="Aptos"/>
              </a:rPr>
              <a:t>99.4–99.5%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4370831"/>
            <a:ext cx="182880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4B0C3"/>
                </a:solidFill>
                <a:latin typeface="Aptos"/>
              </a:rPr>
              <a:t>battery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4983480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A4B0C3"/>
                </a:solidFill>
                <a:latin typeface="Aptos"/>
              </a:rPr>
              <a:t>Fixed dt = 0.016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6858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dirty="0" err="1">
                <a:solidFill>
                  <a:srgbClr val="A4B0C3"/>
                </a:solidFill>
                <a:latin typeface="Aptos"/>
              </a:rPr>
              <a:t>HiveFlight</a:t>
            </a:r>
            <a:r>
              <a:rPr sz="800" b="0" dirty="0">
                <a:solidFill>
                  <a:srgbClr val="A4B0C3"/>
                </a:solidFill>
                <a:latin typeface="Aptos"/>
              </a:rPr>
              <a:t> • C++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A4B0C3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60D2A0"/>
                </a:solidFill>
                <a:latin typeface="Aptos"/>
              </a:rPr>
              <a:t>08 • SHOW &amp; TELL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EEF3FA"/>
                </a:solidFill>
                <a:latin typeface="Aptos"/>
              </a:rPr>
              <a:t>What makes it worth showing on r/cpp?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088136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A4B0C3"/>
                </a:solidFill>
                <a:latin typeface="Aptos"/>
              </a:rPr>
              <a:t>The project sits right on the thread’s “I wrote something in C++” sweet spot.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57800" cy="10515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993392"/>
            <a:ext cx="14630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60D2A0"/>
                </a:solidFill>
                <a:latin typeface="Aptos"/>
              </a:rPr>
              <a:t>Modern C++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993392"/>
            <a:ext cx="342900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4B0C3"/>
                </a:solidFill>
                <a:latin typeface="Aptos"/>
              </a:rPr>
              <a:t>C++17, CMake, STL-only standalone 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257800" cy="10515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993392"/>
            <a:ext cx="14630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5DAAFF"/>
                </a:solidFill>
                <a:latin typeface="Aptos"/>
              </a:rPr>
              <a:t>Algorithms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993392"/>
            <a:ext cx="342900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4B0C3"/>
                </a:solidFill>
                <a:latin typeface="Aptos"/>
              </a:rPr>
              <a:t>Boids, vector math, spatial partitioning,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46120"/>
            <a:ext cx="5257800" cy="10515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3410712"/>
            <a:ext cx="14630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60D2A0"/>
                </a:solidFill>
                <a:latin typeface="Aptos"/>
              </a:rPr>
              <a:t>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410712"/>
            <a:ext cx="342900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4B0C3"/>
                </a:solidFill>
                <a:latin typeface="Aptos"/>
              </a:rPr>
              <a:t>multiple executables, config hierarchy, exporters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246120"/>
            <a:ext cx="5257800" cy="10515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3410712"/>
            <a:ext cx="14630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5DAAFF"/>
                </a:solidFill>
                <a:latin typeface="Aptos"/>
              </a:rPr>
              <a:t>Visualization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410712"/>
            <a:ext cx="342900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4B0C3"/>
                </a:solidFill>
                <a:latin typeface="Aptos"/>
              </a:rPr>
              <a:t>ASCII, isometric 3D, OpenGL, OBJ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63440"/>
            <a:ext cx="5257800" cy="10515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4828031"/>
            <a:ext cx="14630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60D2A0"/>
                </a:solidFill>
                <a:latin typeface="Aptos"/>
              </a:rPr>
              <a:t>Robotics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828031"/>
            <a:ext cx="342900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4B0C3"/>
                </a:solidFill>
                <a:latin typeface="Aptos"/>
              </a:rPr>
              <a:t>ROS 2 Humble + Gazebo Classic integration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663440"/>
            <a:ext cx="5257800" cy="105156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4828031"/>
            <a:ext cx="146304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5DAAFF"/>
                </a:solidFill>
                <a:latin typeface="Aptos"/>
              </a:rPr>
              <a:t>Experimentation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4828031"/>
            <a:ext cx="3429000" cy="5486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A4B0C3"/>
                </a:solidFill>
                <a:latin typeface="Aptos"/>
              </a:rPr>
              <a:t>weights, seeds, drone counts, launch-time 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72200"/>
            <a:ext cx="106984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>
                <a:solidFill>
                  <a:srgbClr val="EEF3FA"/>
                </a:solidFill>
                <a:latin typeface="Aptos"/>
              </a:rPr>
              <a:t>The interesting story: local rules + careful C++ implementation → emergent global behavior.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6858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dirty="0" err="1">
                <a:solidFill>
                  <a:srgbClr val="A4B0C3"/>
                </a:solidFill>
                <a:latin typeface="Aptos"/>
              </a:rPr>
              <a:t>HiveFlight</a:t>
            </a:r>
            <a:r>
              <a:rPr sz="800" b="0" dirty="0">
                <a:solidFill>
                  <a:srgbClr val="A4B0C3"/>
                </a:solidFill>
                <a:latin typeface="Aptos"/>
              </a:rPr>
              <a:t> • C++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A4B0C3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60D2A0"/>
                </a:solidFill>
                <a:latin typeface="Aptos"/>
              </a:rPr>
              <a:t>10 •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EEF3FA"/>
                </a:solidFill>
                <a:latin typeface="Aptos"/>
              </a:rPr>
              <a:t>Project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088136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A4B0C3"/>
                </a:solidFill>
                <a:latin typeface="Aptos"/>
              </a:rPr>
              <a:t>A compact reference slide for the Reddit post.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257800" cy="3886200"/>
          </a:xfrm>
          <a:prstGeom prst="roundRect">
            <a:avLst/>
          </a:prstGeom>
          <a:solidFill>
            <a:srgbClr val="141B27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310896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300" b="1">
                <a:solidFill>
                  <a:srgbClr val="EEF3FA"/>
                </a:solidFill>
                <a:latin typeface="Aptos"/>
              </a:rPr>
              <a:t>HiveFlight 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87168"/>
            <a:ext cx="42976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>
                <a:solidFill>
                  <a:srgbClr val="60D2A0"/>
                </a:solidFill>
                <a:latin typeface="Aptos"/>
              </a:rPr>
              <a:t>Modern C++17 drone-swarm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4480560" cy="21031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EEF3FA"/>
                </a:solidFill>
                <a:latin typeface="Aptos"/>
              </a:defRPr>
            </a:pPr>
            <a:r>
              <a:t>• 2D + 3D swarm engines</a:t>
            </a:r>
          </a:p>
          <a:p>
            <a:pPr>
              <a:spcAft>
                <a:spcPts val="900"/>
              </a:spcAft>
              <a:defRPr sz="1300">
                <a:solidFill>
                  <a:srgbClr val="EEF3FA"/>
                </a:solidFill>
                <a:latin typeface="Aptos"/>
              </a:defRPr>
            </a:pPr>
            <a:r>
              <a:t>• Reynolds Boids: separation, alignment, cohesion, target seeking, obstacle avoidance</a:t>
            </a:r>
          </a:p>
          <a:p>
            <a:pPr>
              <a:spcAft>
                <a:spcPts val="900"/>
              </a:spcAft>
              <a:defRPr sz="1300">
                <a:solidFill>
                  <a:srgbClr val="EEF3FA"/>
                </a:solidFill>
                <a:latin typeface="Aptos"/>
              </a:defRPr>
            </a:pPr>
            <a:r>
              <a:t>• Spatial-grid neighbor acceleration</a:t>
            </a:r>
          </a:p>
          <a:p>
            <a:pPr>
              <a:spcAft>
                <a:spcPts val="900"/>
              </a:spcAft>
              <a:defRPr sz="1300">
                <a:solidFill>
                  <a:srgbClr val="EEF3FA"/>
                </a:solidFill>
                <a:latin typeface="Aptos"/>
              </a:defRPr>
            </a:pPr>
            <a:r>
              <a:t>• ASCII + OpenGL + OBJ/CSV export</a:t>
            </a:r>
          </a:p>
          <a:p>
            <a:pPr>
              <a:spcAft>
                <a:spcPts val="900"/>
              </a:spcAft>
              <a:defRPr sz="1300">
                <a:solidFill>
                  <a:srgbClr val="EEF3FA"/>
                </a:solidFill>
                <a:latin typeface="Aptos"/>
              </a:defRPr>
            </a:pPr>
            <a:r>
              <a:t>• ROS 2 Humble + Gazebo Classic 11</a:t>
            </a:r>
          </a:p>
          <a:p>
            <a:pPr>
              <a:spcAft>
                <a:spcPts val="900"/>
              </a:spcAft>
              <a:defRPr sz="1300">
                <a:solidFill>
                  <a:srgbClr val="EEF3FA"/>
                </a:solidFill>
                <a:latin typeface="Aptos"/>
              </a:defRPr>
            </a:pPr>
            <a:r>
              <a:t>• Apache-2.0 license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349240" cy="3886200"/>
          </a:xfrm>
          <a:prstGeom prst="roundRect">
            <a:avLst/>
          </a:prstGeom>
          <a:solidFill>
            <a:srgbClr val="1B2434"/>
          </a:solidFill>
          <a:ln w="12700">
            <a:solidFill>
              <a:srgbClr val="30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2057400"/>
            <a:ext cx="18288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600" b="1">
                <a:solidFill>
                  <a:srgbClr val="EEF3FA"/>
                </a:solidFill>
                <a:latin typeface="Aptos"/>
              </a:rPr>
              <a:t>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87168"/>
            <a:ext cx="45720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5DAAFF"/>
                </a:solidFill>
                <a:latin typeface="Consolas"/>
              </a:rPr>
              <a:t>github.com/oanadumitruc/HiveFlight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154680"/>
            <a:ext cx="24688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EEF3FA"/>
                </a:solidFill>
                <a:latin typeface="Aptos"/>
              </a:rPr>
              <a:t>Best docs to skim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566160"/>
            <a:ext cx="4480560" cy="1508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EEF3FA"/>
                </a:solidFill>
                <a:latin typeface="Aptos"/>
              </a:defRPr>
            </a:pPr>
            <a:r>
              <a:t>• README.md — overview &amp; quick start</a:t>
            </a:r>
          </a:p>
          <a:p>
            <a:pPr>
              <a:spcAft>
                <a:spcPts val="900"/>
              </a:spcAft>
              <a:defRPr sz="1200">
                <a:solidFill>
                  <a:srgbClr val="EEF3FA"/>
                </a:solidFill>
                <a:latin typeface="Aptos"/>
              </a:defRPr>
            </a:pPr>
            <a:r>
              <a:t>• docs/ARCHITECTURE.md — design + performance</a:t>
            </a:r>
          </a:p>
          <a:p>
            <a:pPr>
              <a:spcAft>
                <a:spcPts val="900"/>
              </a:spcAft>
              <a:defRPr sz="1200">
                <a:solidFill>
                  <a:srgbClr val="EEF3FA"/>
                </a:solidFill>
                <a:latin typeface="Aptos"/>
              </a:defRPr>
            </a:pPr>
            <a:r>
              <a:t>• docs/3D_SIMULATION.md — 3D mechanics &amp; metrics</a:t>
            </a:r>
          </a:p>
          <a:p>
            <a:pPr>
              <a:spcAft>
                <a:spcPts val="900"/>
              </a:spcAft>
              <a:defRPr sz="1200">
                <a:solidFill>
                  <a:srgbClr val="EEF3FA"/>
                </a:solidFill>
                <a:latin typeface="Aptos"/>
              </a:defRPr>
            </a:pPr>
            <a:r>
              <a:t>• docs/ROS2_IMPLEMENTATION.md — robotics boundary</a:t>
            </a:r>
          </a:p>
          <a:p>
            <a:pPr>
              <a:spcAft>
                <a:spcPts val="900"/>
              </a:spcAft>
              <a:defRPr sz="1200">
                <a:solidFill>
                  <a:srgbClr val="EEF3FA"/>
                </a:solidFill>
                <a:latin typeface="Aptos"/>
              </a:defRPr>
            </a:pPr>
            <a:r>
              <a:t>• docs/SIMULATION_RESULTS.md — run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166360"/>
            <a:ext cx="45262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F5C95C"/>
                </a:solidFill>
                <a:latin typeface="Aptos"/>
              </a:rPr>
              <a:t>Suggested demo: 30 drones → target seeking → obstacles → export CSV → show Gazebo.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6858000" cy="30162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dirty="0" err="1">
                <a:solidFill>
                  <a:srgbClr val="A4B0C3"/>
                </a:solidFill>
                <a:latin typeface="Aptos"/>
              </a:rPr>
              <a:t>HiveFlight</a:t>
            </a:r>
            <a:r>
              <a:rPr sz="800" b="0" dirty="0">
                <a:solidFill>
                  <a:srgbClr val="A4B0C3"/>
                </a:solidFill>
                <a:latin typeface="Aptos"/>
              </a:rPr>
              <a:t> • C++ </a:t>
            </a:r>
            <a:endParaRPr lang="en-GB" sz="800" dirty="0">
              <a:solidFill>
                <a:srgbClr val="A4B0C3"/>
              </a:solidFill>
              <a:latin typeface="Aptos"/>
            </a:endParaRPr>
          </a:p>
          <a:p>
            <a:pPr algn="l"/>
            <a:endParaRPr sz="800" b="0" dirty="0">
              <a:solidFill>
                <a:srgbClr val="A4B0C3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A4B0C3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60D2A0"/>
                </a:solidFill>
                <a:latin typeface="Aptos"/>
              </a:rPr>
              <a:t>11 •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EEF3FA"/>
                </a:solidFill>
                <a:latin typeface="Aptos"/>
              </a:rPr>
              <a:t>Sources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0881360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A4B0C3"/>
                </a:solidFill>
                <a:latin typeface="Aptos"/>
              </a:rPr>
              <a:t>Prepared from the repository and its project documentation available on August 27,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25603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EEF3FA"/>
                </a:solidFill>
                <a:latin typeface="Aptos"/>
              </a:rPr>
              <a:t>Repository / README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828800"/>
            <a:ext cx="8046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5DAAFF"/>
                </a:solidFill>
                <a:latin typeface="Consolas"/>
                <a:hlinkClick r:id="rId2"/>
              </a:rPr>
              <a:t>github.com/oanadumitruc/HiveFlight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25603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EEF3FA"/>
                </a:solidFill>
                <a:latin typeface="Aptos"/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487168"/>
            <a:ext cx="8046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5DAAFF"/>
                </a:solidFill>
                <a:latin typeface="Consolas"/>
                <a:hlinkClick r:id="rId2"/>
              </a:rPr>
              <a:t>docs/ARCHITECTURE.md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45535"/>
            <a:ext cx="25603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EEF3FA"/>
                </a:solidFill>
                <a:latin typeface="Aptos"/>
              </a:rPr>
              <a:t>3D 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3145535"/>
            <a:ext cx="8046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5DAAFF"/>
                </a:solidFill>
                <a:latin typeface="Consolas"/>
                <a:hlinkClick r:id="rId2"/>
              </a:rPr>
              <a:t>docs/3D_SIMULATION.md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03903"/>
            <a:ext cx="25603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EEF3FA"/>
                </a:solidFill>
                <a:latin typeface="Aptos"/>
              </a:rPr>
              <a:t>ROS 2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803903"/>
            <a:ext cx="8046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5DAAFF"/>
                </a:solidFill>
                <a:latin typeface="Consolas"/>
                <a:hlinkClick r:id="rId2"/>
              </a:rPr>
              <a:t>docs/ROS2_IMPLEMENTATION.md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62271"/>
            <a:ext cx="25603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EEF3FA"/>
                </a:solidFill>
                <a:latin typeface="Aptos"/>
              </a:rPr>
              <a:t>Simulation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4462271"/>
            <a:ext cx="8046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5DAAFF"/>
                </a:solidFill>
                <a:latin typeface="Consolas"/>
                <a:hlinkClick r:id="rId2"/>
              </a:rPr>
              <a:t>docs/SIMULATION_RESULTS.md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685800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00" b="0" dirty="0" err="1">
                <a:solidFill>
                  <a:srgbClr val="A4B0C3"/>
                </a:solidFill>
                <a:latin typeface="Aptos"/>
              </a:rPr>
              <a:t>HiveFlight</a:t>
            </a:r>
            <a:r>
              <a:rPr sz="800" b="0" dirty="0">
                <a:solidFill>
                  <a:srgbClr val="A4B0C3"/>
                </a:solidFill>
                <a:latin typeface="Aptos"/>
              </a:rPr>
              <a:t> • C++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365760" cy="1828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A4B0C3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1064</Words>
  <Application>Microsoft Office PowerPoint</Application>
  <PresentationFormat>Widescreen</PresentationFormat>
  <Paragraphs>191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Ivanov Oana</cp:lastModifiedBy>
  <cp:revision>16</cp:revision>
  <dcterms:created xsi:type="dcterms:W3CDTF">2013-01-27T09:14:16Z</dcterms:created>
  <dcterms:modified xsi:type="dcterms:W3CDTF">2026-08-27T10:39:45Z</dcterms:modified>
  <cp:category/>
</cp:coreProperties>
</file>